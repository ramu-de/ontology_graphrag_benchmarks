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2E9C1-FEC0-4C26-931A-9EC8A29F5622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33441-F887-422C-9FD4-06B0961C2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75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717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64592"/>
            <a:ext cx="45720" cy="685800"/>
          </a:xfrm>
          <a:prstGeom prst="rect">
            <a:avLst/>
          </a:prstGeom>
          <a:solidFill>
            <a:srgbClr val="20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31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41414"/>
                </a:solidFill>
              </a:rPr>
              <a:t>Biomedical Knowledge Graph Architecture</a:t>
            </a:r>
          </a:p>
        </p:txBody>
      </p:sp>
      <p:pic>
        <p:nvPicPr>
          <p:cNvPr id="5" name="Picture 4" descr="taked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37744"/>
            <a:ext cx="1005840" cy="3448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1231033"/>
            <a:ext cx="2148840" cy="658368"/>
          </a:xfrm>
          <a:prstGeom prst="roundRect">
            <a:avLst/>
          </a:prstGeom>
          <a:solidFill>
            <a:srgbClr val="EEE6FA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141414"/>
                </a:solidFill>
              </a:rPr>
              <a:t>Graph DB</a:t>
            </a:r>
          </a:p>
          <a:p>
            <a:pPr algn="ctr"/>
            <a:r>
              <a:rPr sz="800" dirty="0">
                <a:solidFill>
                  <a:srgbClr val="5A5A5A"/>
                </a:solidFill>
              </a:rPr>
              <a:t>AWS Neptune
</a:t>
            </a:r>
            <a:r>
              <a:rPr lang="en-US" sz="800" dirty="0" err="1">
                <a:solidFill>
                  <a:srgbClr val="5A5A5A"/>
                </a:solidFill>
              </a:rPr>
              <a:t>O</a:t>
            </a:r>
            <a:r>
              <a:rPr sz="800" dirty="0" err="1">
                <a:solidFill>
                  <a:srgbClr val="5A5A5A"/>
                </a:solidFill>
              </a:rPr>
              <a:t>penCypher</a:t>
            </a:r>
            <a:r>
              <a:rPr sz="800" dirty="0">
                <a:solidFill>
                  <a:srgbClr val="5A5A5A"/>
                </a:solidFill>
              </a:rPr>
              <a:t> + Gremlin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72968" y="1261872"/>
            <a:ext cx="2148840" cy="658368"/>
          </a:xfrm>
          <a:prstGeom prst="roundRect">
            <a:avLst/>
          </a:prstGeom>
          <a:solidFill>
            <a:srgbClr val="E4EDFC"/>
          </a:solidFill>
          <a:ln w="12700">
            <a:solidFill>
              <a:srgbClr val="436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141414"/>
                </a:solidFill>
              </a:rPr>
              <a:t>Vector Search</a:t>
            </a:r>
          </a:p>
          <a:p>
            <a:pPr algn="ctr"/>
            <a:r>
              <a:rPr sz="800" dirty="0">
                <a:solidFill>
                  <a:srgbClr val="5A5A5A"/>
                </a:solidFill>
              </a:rPr>
              <a:t>Neptune Analytics
Unified retrieval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221889"/>
            <a:ext cx="2148840" cy="658368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39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141414"/>
                </a:solidFill>
              </a:rPr>
              <a:t>Schema Control</a:t>
            </a:r>
          </a:p>
          <a:p>
            <a:pPr algn="ctr"/>
            <a:r>
              <a:rPr sz="800" dirty="0">
                <a:solidFill>
                  <a:srgbClr val="5A5A5A"/>
                </a:solidFill>
              </a:rPr>
              <a:t>Ontology + JSON Schema
Constraint driven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9912" y="1261872"/>
            <a:ext cx="2148840" cy="658368"/>
          </a:xfrm>
          <a:prstGeom prst="roundRect">
            <a:avLst/>
          </a:prstGeom>
          <a:solidFill>
            <a:srgbClr val="ECF9F3"/>
          </a:solidFill>
          <a:ln w="12700">
            <a:solidFill>
              <a:srgbClr val="2E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141414"/>
                </a:solidFill>
              </a:rPr>
              <a:t>Trust Layer</a:t>
            </a:r>
          </a:p>
          <a:p>
            <a:pPr algn="ctr"/>
            <a:r>
              <a:rPr sz="800" dirty="0">
                <a:solidFill>
                  <a:srgbClr val="5A5A5A"/>
                </a:solidFill>
              </a:rPr>
              <a:t>Grounding + Explainability
Factual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300881"/>
            <a:ext cx="10515600" cy="3429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b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5840" y="2633472"/>
            <a:ext cx="1417320" cy="384048"/>
          </a:xfrm>
          <a:prstGeom prst="roundRect">
            <a:avLst/>
          </a:prstGeom>
          <a:solidFill>
            <a:srgbClr val="EDE6FA"/>
          </a:solidFill>
          <a:ln w="1778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rgbClr val="6F42C1"/>
                </a:solidFill>
              </a:rPr>
              <a:t>Layer 4
Coordination</a:t>
            </a:r>
            <a:r>
              <a:rPr lang="en-US" sz="1050" b="1" dirty="0">
                <a:solidFill>
                  <a:srgbClr val="6F42C1"/>
                </a:solidFill>
              </a:rPr>
              <a:t> Bus</a:t>
            </a:r>
            <a:endParaRPr sz="1050" b="1" dirty="0">
              <a:solidFill>
                <a:srgbClr val="6F42C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06040" y="2660903"/>
            <a:ext cx="1143000" cy="256032"/>
          </a:xfrm>
          <a:prstGeom prst="roundRect">
            <a:avLst/>
          </a:prstGeom>
          <a:solidFill>
            <a:srgbClr val="EDE6FA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 dirty="0">
                <a:solidFill>
                  <a:srgbClr val="6F42C1"/>
                </a:solidFill>
              </a:rPr>
              <a:t>Literature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58768" y="2660903"/>
            <a:ext cx="914400" cy="256032"/>
          </a:xfrm>
          <a:prstGeom prst="roundRect">
            <a:avLst/>
          </a:prstGeom>
          <a:solidFill>
            <a:srgbClr val="EDE6FA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6F42C1"/>
                </a:solidFill>
              </a:rPr>
              <a:t>Safety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82896" y="2660903"/>
            <a:ext cx="1234440" cy="256032"/>
          </a:xfrm>
          <a:prstGeom prst="roundRect">
            <a:avLst/>
          </a:prstGeom>
          <a:solidFill>
            <a:srgbClr val="EDE6FA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6F42C1"/>
                </a:solidFill>
              </a:rPr>
              <a:t>Repurposing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2660903"/>
            <a:ext cx="1097280" cy="256032"/>
          </a:xfrm>
          <a:prstGeom prst="roundRect">
            <a:avLst/>
          </a:prstGeom>
          <a:solidFill>
            <a:srgbClr val="EDE6FA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6F42C1"/>
                </a:solidFill>
              </a:rPr>
              <a:t>Agent Interface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4072" y="2660903"/>
            <a:ext cx="1417320" cy="256032"/>
          </a:xfrm>
          <a:prstGeom prst="roundRect">
            <a:avLst/>
          </a:prstGeom>
          <a:solidFill>
            <a:srgbClr val="EDE6FA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 dirty="0">
                <a:solidFill>
                  <a:srgbClr val="6F42C1"/>
                </a:solidFill>
              </a:rPr>
              <a:t>Orchestration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181" y="3312997"/>
            <a:ext cx="1417320" cy="384048"/>
          </a:xfrm>
          <a:prstGeom prst="roundRect">
            <a:avLst/>
          </a:prstGeom>
          <a:solidFill>
            <a:srgbClr val="E4EDFC"/>
          </a:solidFill>
          <a:ln w="17780">
            <a:solidFill>
              <a:srgbClr val="436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dirty="0">
                <a:solidFill>
                  <a:srgbClr val="436DBF"/>
                </a:solidFill>
              </a:rPr>
              <a:t>Layer 3
</a:t>
            </a:r>
            <a:r>
              <a:rPr lang="en-US" sz="800" b="1" dirty="0">
                <a:solidFill>
                  <a:srgbClr val="436DBF"/>
                </a:solidFill>
              </a:rPr>
              <a:t>Trust</a:t>
            </a:r>
            <a:r>
              <a:rPr sz="800" b="1" dirty="0">
                <a:solidFill>
                  <a:srgbClr val="436DBF"/>
                </a:solidFill>
              </a:rPr>
              <a:t> &amp; Observability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40" y="3282696"/>
            <a:ext cx="1051560" cy="256032"/>
          </a:xfrm>
          <a:prstGeom prst="roundRect">
            <a:avLst/>
          </a:prstGeom>
          <a:solidFill>
            <a:srgbClr val="E4EDFC"/>
          </a:solidFill>
          <a:ln w="15240">
            <a:solidFill>
              <a:srgbClr val="436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436DBF"/>
                </a:solidFill>
              </a:rPr>
              <a:t>Input Validator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67328" y="3282696"/>
            <a:ext cx="1097280" cy="256032"/>
          </a:xfrm>
          <a:prstGeom prst="roundRect">
            <a:avLst/>
          </a:prstGeom>
          <a:solidFill>
            <a:srgbClr val="E4EDFC"/>
          </a:solidFill>
          <a:ln w="15240">
            <a:solidFill>
              <a:srgbClr val="436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436DBF"/>
                </a:solidFill>
              </a:rPr>
              <a:t>Output Validator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74336" y="3282696"/>
            <a:ext cx="1188720" cy="256032"/>
          </a:xfrm>
          <a:prstGeom prst="roundRect">
            <a:avLst/>
          </a:prstGeom>
          <a:solidFill>
            <a:srgbClr val="E4EDFC"/>
          </a:solidFill>
          <a:ln w="15240">
            <a:solidFill>
              <a:srgbClr val="436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436DBF"/>
                </a:solidFill>
              </a:rPr>
              <a:t>Grounding Validator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3" y="3282696"/>
            <a:ext cx="1371600" cy="256032"/>
          </a:xfrm>
          <a:prstGeom prst="roundRect">
            <a:avLst/>
          </a:prstGeom>
          <a:solidFill>
            <a:srgbClr val="E4EDFC"/>
          </a:solidFill>
          <a:ln w="15240">
            <a:solidFill>
              <a:srgbClr val="436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436DBF"/>
                </a:solidFill>
              </a:rPr>
              <a:t>Explainability 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3483" y="3282696"/>
            <a:ext cx="1417320" cy="256032"/>
          </a:xfrm>
          <a:prstGeom prst="roundRect">
            <a:avLst/>
          </a:prstGeom>
          <a:solidFill>
            <a:srgbClr val="E4EDFC"/>
          </a:solidFill>
          <a:ln w="15240">
            <a:solidFill>
              <a:srgbClr val="436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 dirty="0">
                <a:solidFill>
                  <a:srgbClr val="436DBF"/>
                </a:solidFill>
              </a:rPr>
              <a:t>Monitoring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3877056"/>
            <a:ext cx="1417320" cy="384048"/>
          </a:xfrm>
          <a:prstGeom prst="roundRect">
            <a:avLst/>
          </a:prstGeom>
          <a:solidFill>
            <a:srgbClr val="E6F4EA"/>
          </a:solidFill>
          <a:ln w="17780">
            <a:solidFill>
              <a:srgbClr val="39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398751"/>
                </a:solidFill>
              </a:rPr>
              <a:t>Layer 2
Query &amp; 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6040" y="3904488"/>
            <a:ext cx="914400" cy="256032"/>
          </a:xfrm>
          <a:prstGeom prst="roundRect">
            <a:avLst/>
          </a:prstGeom>
          <a:solidFill>
            <a:srgbClr val="E6F4EA"/>
          </a:solidFill>
          <a:ln w="15240">
            <a:solidFill>
              <a:srgbClr val="39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398751"/>
                </a:solidFill>
              </a:rPr>
              <a:t>Query Engine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30168" y="3904488"/>
            <a:ext cx="1097280" cy="256032"/>
          </a:xfrm>
          <a:prstGeom prst="roundRect">
            <a:avLst/>
          </a:prstGeom>
          <a:solidFill>
            <a:srgbClr val="E6F4EA"/>
          </a:solidFill>
          <a:ln w="15240">
            <a:solidFill>
              <a:srgbClr val="39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398751"/>
                </a:solidFill>
              </a:rPr>
              <a:t>Unified Search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37176" y="3904488"/>
            <a:ext cx="1325880" cy="256032"/>
          </a:xfrm>
          <a:prstGeom prst="roundRect">
            <a:avLst/>
          </a:prstGeom>
          <a:solidFill>
            <a:srgbClr val="E6F4EA"/>
          </a:solidFill>
          <a:ln w="15240">
            <a:solidFill>
              <a:srgbClr val="39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398751"/>
                </a:solidFill>
              </a:rPr>
              <a:t>Entity Disambiguator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2783" y="3904488"/>
            <a:ext cx="1325880" cy="256032"/>
          </a:xfrm>
          <a:prstGeom prst="roundRect">
            <a:avLst/>
          </a:prstGeom>
          <a:solidFill>
            <a:srgbClr val="E6F4EA"/>
          </a:solidFill>
          <a:ln w="15240">
            <a:solidFill>
              <a:srgbClr val="39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398751"/>
                </a:solidFill>
              </a:rPr>
              <a:t>Safety Signal Detector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887365"/>
            <a:ext cx="1280160" cy="256032"/>
          </a:xfrm>
          <a:prstGeom prst="roundRect">
            <a:avLst/>
          </a:prstGeom>
          <a:solidFill>
            <a:srgbClr val="E6F4EA"/>
          </a:solidFill>
          <a:ln w="15240">
            <a:solidFill>
              <a:srgbClr val="39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 dirty="0">
                <a:solidFill>
                  <a:srgbClr val="398751"/>
                </a:solidFill>
              </a:rPr>
              <a:t>Hypothesis Generator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4498848"/>
            <a:ext cx="1417320" cy="384048"/>
          </a:xfrm>
          <a:prstGeom prst="roundRect">
            <a:avLst/>
          </a:prstGeom>
          <a:solidFill>
            <a:srgbClr val="FBECDD"/>
          </a:solidFill>
          <a:ln w="17780">
            <a:solidFill>
              <a:srgbClr val="BA6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BA6310"/>
                </a:solidFill>
              </a:rPr>
              <a:t>Layer 1
Data &amp; Ontology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6040" y="4526280"/>
            <a:ext cx="1143000" cy="256032"/>
          </a:xfrm>
          <a:prstGeom prst="roundRect">
            <a:avLst/>
          </a:prstGeom>
          <a:solidFill>
            <a:srgbClr val="FBECDD"/>
          </a:solidFill>
          <a:ln w="15240">
            <a:solidFill>
              <a:srgbClr val="BA6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BA6310"/>
                </a:solidFill>
              </a:rPr>
              <a:t>Ontology Registry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58768" y="4526280"/>
            <a:ext cx="1097280" cy="256032"/>
          </a:xfrm>
          <a:prstGeom prst="roundRect">
            <a:avLst/>
          </a:prstGeom>
          <a:solidFill>
            <a:srgbClr val="FBECDD"/>
          </a:solidFill>
          <a:ln w="15240">
            <a:solidFill>
              <a:srgbClr val="BA6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BA6310"/>
                </a:solidFill>
              </a:rPr>
              <a:t>CSV Transformer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65776" y="4526280"/>
            <a:ext cx="914400" cy="256032"/>
          </a:xfrm>
          <a:prstGeom prst="roundRect">
            <a:avLst/>
          </a:prstGeom>
          <a:solidFill>
            <a:srgbClr val="FBECDD"/>
          </a:solidFill>
          <a:ln w="15240">
            <a:solidFill>
              <a:srgbClr val="BA6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BA6310"/>
                </a:solidFill>
              </a:rPr>
              <a:t>Graph Loader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9904" y="4526280"/>
            <a:ext cx="868680" cy="256032"/>
          </a:xfrm>
          <a:prstGeom prst="roundRect">
            <a:avLst/>
          </a:prstGeom>
          <a:solidFill>
            <a:srgbClr val="FBECDD"/>
          </a:solidFill>
          <a:ln w="15240">
            <a:solidFill>
              <a:srgbClr val="BA6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 dirty="0">
                <a:solidFill>
                  <a:srgbClr val="BA6310"/>
                </a:solidFill>
              </a:rPr>
              <a:t>S3 Uploader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23176" y="4526280"/>
            <a:ext cx="868680" cy="256032"/>
          </a:xfrm>
          <a:prstGeom prst="roundRect">
            <a:avLst/>
          </a:prstGeom>
          <a:solidFill>
            <a:srgbClr val="FBECDD"/>
          </a:solidFill>
          <a:ln w="15240">
            <a:solidFill>
              <a:srgbClr val="BA6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 dirty="0">
                <a:solidFill>
                  <a:srgbClr val="BA6310"/>
                </a:solidFill>
              </a:rPr>
              <a:t>Bulk Loader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" y="5120640"/>
            <a:ext cx="1417320" cy="384048"/>
          </a:xfrm>
          <a:prstGeom prst="roundRect">
            <a:avLst/>
          </a:prstGeom>
          <a:solidFill>
            <a:srgbClr val="E3F3F8"/>
          </a:solidFill>
          <a:ln w="17780">
            <a:solidFill>
              <a:srgbClr val="0E7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0E7EA6"/>
                </a:solidFill>
              </a:rPr>
              <a:t>AWS Managed
Services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06040" y="5148072"/>
            <a:ext cx="914400" cy="256032"/>
          </a:xfrm>
          <a:prstGeom prst="roundRect">
            <a:avLst/>
          </a:prstGeom>
          <a:solidFill>
            <a:srgbClr val="E3F3F8"/>
          </a:solidFill>
          <a:ln w="15240">
            <a:solidFill>
              <a:srgbClr val="0E7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0E7EA6"/>
                </a:solidFill>
              </a:rPr>
              <a:t>Neptune DB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30168" y="5148072"/>
            <a:ext cx="1234440" cy="256032"/>
          </a:xfrm>
          <a:prstGeom prst="roundRect">
            <a:avLst/>
          </a:prstGeom>
          <a:solidFill>
            <a:srgbClr val="E3F3F8"/>
          </a:solidFill>
          <a:ln w="15240">
            <a:solidFill>
              <a:srgbClr val="0E7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0E7EA6"/>
                </a:solidFill>
              </a:rPr>
              <a:t>Neptune Analytics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2031" y="5156990"/>
            <a:ext cx="914400" cy="256032"/>
          </a:xfrm>
          <a:prstGeom prst="roundRect">
            <a:avLst/>
          </a:prstGeom>
          <a:solidFill>
            <a:srgbClr val="E3F3F8"/>
          </a:solidFill>
          <a:ln w="15240">
            <a:solidFill>
              <a:srgbClr val="0E7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0E7EA6"/>
                </a:solidFill>
              </a:rPr>
              <a:t>S3 Staging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56297" y="5181070"/>
            <a:ext cx="1097280" cy="256032"/>
          </a:xfrm>
          <a:prstGeom prst="roundRect">
            <a:avLst/>
          </a:prstGeom>
          <a:solidFill>
            <a:srgbClr val="E3F3F8"/>
          </a:solidFill>
          <a:ln w="15240">
            <a:solidFill>
              <a:srgbClr val="0E7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>
                <a:solidFill>
                  <a:srgbClr val="0E7EA6"/>
                </a:solidFill>
              </a:rPr>
              <a:t>Titan Embeddings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3309" y="5163407"/>
            <a:ext cx="914400" cy="256032"/>
          </a:xfrm>
          <a:prstGeom prst="roundRect">
            <a:avLst/>
          </a:prstGeom>
          <a:solidFill>
            <a:srgbClr val="E3F3F8"/>
          </a:solidFill>
          <a:ln w="15240">
            <a:solidFill>
              <a:srgbClr val="0E7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10" b="1" dirty="0">
                <a:solidFill>
                  <a:srgbClr val="0E7EA6"/>
                </a:solidFill>
              </a:rPr>
              <a:t>IAM / SigV4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3044952"/>
            <a:ext cx="246888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>
                <a:solidFill>
                  <a:srgbClr val="787878"/>
                </a:solidFill>
              </a:rPr>
              <a:t>▼ Structured JSON schema contracts 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3666744"/>
            <a:ext cx="246888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>
                <a:solidFill>
                  <a:srgbClr val="787878"/>
                </a:solidFill>
              </a:rPr>
              <a:t>▼ openCypher queries + vector retrieval 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288536"/>
            <a:ext cx="246888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>
                <a:solidFill>
                  <a:srgbClr val="787878"/>
                </a:solidFill>
              </a:rPr>
              <a:t>▼ Ontology validated CSV → S3 → bulk loader 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6757" y="6135398"/>
            <a:ext cx="92354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06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dirty="0">
                <a:solidFill>
                  <a:srgbClr val="FF0000"/>
                </a:solidFill>
              </a:rPr>
              <a:t>Data Flow: CSV files → ontology validation → Neptune graph → agent queries → grounded, explainable results</a:t>
            </a:r>
          </a:p>
        </p:txBody>
      </p:sp>
      <p:sp>
        <p:nvSpPr>
          <p:cNvPr id="54" name="Rounded Rectangle 32">
            <a:extLst>
              <a:ext uri="{FF2B5EF4-FFF2-40B4-BE49-F238E27FC236}">
                <a16:creationId xmlns:a16="http://schemas.microsoft.com/office/drawing/2014/main" id="{75A5C348-7932-571C-BBDE-13A99FE79873}"/>
              </a:ext>
            </a:extLst>
          </p:cNvPr>
          <p:cNvSpPr/>
          <p:nvPr/>
        </p:nvSpPr>
        <p:spPr>
          <a:xfrm>
            <a:off x="7776972" y="3905906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15240">
            <a:solidFill>
              <a:srgbClr val="398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10" b="1" dirty="0">
                <a:solidFill>
                  <a:srgbClr val="398751"/>
                </a:solidFill>
              </a:rPr>
              <a:t>Drug Repurposing Analyzer</a:t>
            </a:r>
            <a:endParaRPr sz="710" b="1" dirty="0">
              <a:solidFill>
                <a:srgbClr val="398751"/>
              </a:solidFill>
            </a:endParaRPr>
          </a:p>
        </p:txBody>
      </p:sp>
      <p:sp>
        <p:nvSpPr>
          <p:cNvPr id="57" name="Rounded Rectangle 39">
            <a:extLst>
              <a:ext uri="{FF2B5EF4-FFF2-40B4-BE49-F238E27FC236}">
                <a16:creationId xmlns:a16="http://schemas.microsoft.com/office/drawing/2014/main" id="{7BE4CDFB-5F8F-25E5-FC88-4B42C0CB7E88}"/>
              </a:ext>
            </a:extLst>
          </p:cNvPr>
          <p:cNvSpPr/>
          <p:nvPr/>
        </p:nvSpPr>
        <p:spPr>
          <a:xfrm>
            <a:off x="8330184" y="4520543"/>
            <a:ext cx="868680" cy="256032"/>
          </a:xfrm>
          <a:prstGeom prst="roundRect">
            <a:avLst/>
          </a:prstGeom>
          <a:solidFill>
            <a:srgbClr val="FBECDD"/>
          </a:solidFill>
          <a:ln w="15240">
            <a:solidFill>
              <a:srgbClr val="BA63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10" b="1" dirty="0">
                <a:solidFill>
                  <a:srgbClr val="BA6310"/>
                </a:solidFill>
              </a:rPr>
              <a:t>Graph Exporter</a:t>
            </a:r>
            <a:endParaRPr sz="710" b="1" dirty="0">
              <a:solidFill>
                <a:srgbClr val="BA6310"/>
              </a:solidFill>
            </a:endParaRPr>
          </a:p>
        </p:txBody>
      </p:sp>
      <p:sp>
        <p:nvSpPr>
          <p:cNvPr id="58" name="Rounded Rectangle 21">
            <a:extLst>
              <a:ext uri="{FF2B5EF4-FFF2-40B4-BE49-F238E27FC236}">
                <a16:creationId xmlns:a16="http://schemas.microsoft.com/office/drawing/2014/main" id="{4E68D911-D117-9FC8-92BE-B6CDC77FEB39}"/>
              </a:ext>
            </a:extLst>
          </p:cNvPr>
          <p:cNvSpPr/>
          <p:nvPr/>
        </p:nvSpPr>
        <p:spPr>
          <a:xfrm>
            <a:off x="8961120" y="2678027"/>
            <a:ext cx="1417320" cy="256032"/>
          </a:xfrm>
          <a:prstGeom prst="roundRect">
            <a:avLst/>
          </a:prstGeom>
          <a:solidFill>
            <a:srgbClr val="EDE6FA"/>
          </a:solidFill>
          <a:ln w="1524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10" b="1" dirty="0">
                <a:solidFill>
                  <a:srgbClr val="6F42C1"/>
                </a:solidFill>
              </a:rPr>
              <a:t>Agent Pipeline </a:t>
            </a:r>
            <a:endParaRPr sz="710" b="1" dirty="0">
              <a:solidFill>
                <a:srgbClr val="6F42C1"/>
              </a:solidFill>
            </a:endParaRPr>
          </a:p>
        </p:txBody>
      </p:sp>
      <p:sp>
        <p:nvSpPr>
          <p:cNvPr id="59" name="Rounded Rectangle 27">
            <a:extLst>
              <a:ext uri="{FF2B5EF4-FFF2-40B4-BE49-F238E27FC236}">
                <a16:creationId xmlns:a16="http://schemas.microsoft.com/office/drawing/2014/main" id="{5839D89B-D718-CF56-A51A-9D02F792F245}"/>
              </a:ext>
            </a:extLst>
          </p:cNvPr>
          <p:cNvSpPr/>
          <p:nvPr/>
        </p:nvSpPr>
        <p:spPr>
          <a:xfrm>
            <a:off x="9178091" y="3282696"/>
            <a:ext cx="1417320" cy="256032"/>
          </a:xfrm>
          <a:prstGeom prst="roundRect">
            <a:avLst/>
          </a:prstGeom>
          <a:solidFill>
            <a:srgbClr val="E4EDFC"/>
          </a:solidFill>
          <a:ln w="15240">
            <a:solidFill>
              <a:srgbClr val="436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10" b="1" dirty="0">
                <a:solidFill>
                  <a:srgbClr val="436DBF"/>
                </a:solidFill>
              </a:rPr>
              <a:t>Analytics Engine</a:t>
            </a:r>
            <a:endParaRPr sz="710" b="1" dirty="0">
              <a:solidFill>
                <a:srgbClr val="436DB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18872"/>
            <a:ext cx="45720" cy="658368"/>
          </a:xfrm>
          <a:prstGeom prst="rect">
            <a:avLst/>
          </a:prstGeom>
          <a:solidFill>
            <a:srgbClr val="206B8E"/>
          </a:solidFill>
          <a:ln w="12700">
            <a:solidFill>
              <a:srgbClr val="206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Biomedical Knowledge Graph POC — All Use Cases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GraphRAG</a:t>
            </a:r>
            <a:r>
              <a:rPr lang="en-US" sz="110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use cases across repurposing, safety, precision medicine, landscape analysis, collaboration, and multi-hop discovery</a:t>
            </a:r>
            <a:endParaRPr lang="en-US" sz="1100" dirty="0"/>
          </a:p>
        </p:txBody>
      </p:sp>
      <p:pic>
        <p:nvPicPr>
          <p:cNvPr id="5" name="Image 0" descr="/mnt/data/user-lM3LHVpejqMOxJwfchyOT1Cz/65b1b56cb054444caa2eb4b3cae3a8c1/mnt/data/takeda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118872"/>
            <a:ext cx="932688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932688"/>
            <a:ext cx="11109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5D5D5"/>
            </a:solidFill>
            <a:prstDash val="solid"/>
          </a:ln>
        </p:spPr>
        <p:txBody>
          <a:bodyPr/>
          <a:lstStyle/>
          <a:p>
            <a:endParaRPr lang="en-IN" b="1" dirty="0"/>
          </a:p>
        </p:txBody>
      </p:sp>
      <p:sp>
        <p:nvSpPr>
          <p:cNvPr id="7" name="Shape 4"/>
          <p:cNvSpPr/>
          <p:nvPr/>
        </p:nvSpPr>
        <p:spPr>
          <a:xfrm>
            <a:off x="768096" y="1051560"/>
            <a:ext cx="2359152" cy="292608"/>
          </a:xfrm>
          <a:prstGeom prst="roundRect">
            <a:avLst>
              <a:gd name="adj" fmla="val 18750"/>
            </a:avLst>
          </a:prstGeom>
          <a:solidFill>
            <a:srgbClr val="FBECDD"/>
          </a:solidFill>
          <a:ln w="10160">
            <a:solidFill>
              <a:srgbClr val="BA63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2249424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BA63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1: Data &amp; Ontology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456432" y="1051560"/>
            <a:ext cx="2359152" cy="292608"/>
          </a:xfrm>
          <a:prstGeom prst="roundRect">
            <a:avLst>
              <a:gd name="adj" fmla="val 18750"/>
            </a:avLst>
          </a:prstGeom>
          <a:solidFill>
            <a:srgbClr val="E6F4EA"/>
          </a:solidFill>
          <a:ln w="10160">
            <a:solidFill>
              <a:srgbClr val="398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511296" y="1097280"/>
            <a:ext cx="2249424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3987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2: Query &amp; Analysis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6144768" y="1051560"/>
            <a:ext cx="2359152" cy="292608"/>
          </a:xfrm>
          <a:prstGeom prst="roundRect">
            <a:avLst>
              <a:gd name="adj" fmla="val 18750"/>
            </a:avLst>
          </a:prstGeom>
          <a:solidFill>
            <a:srgbClr val="E4EDFC"/>
          </a:solidFill>
          <a:ln w="10160">
            <a:solidFill>
              <a:srgbClr val="436D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199632" y="1097280"/>
            <a:ext cx="2249424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36D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3: Trust &amp; Observability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8833104" y="1051560"/>
            <a:ext cx="2359152" cy="292608"/>
          </a:xfrm>
          <a:prstGeom prst="roundRect">
            <a:avLst>
              <a:gd name="adj" fmla="val 18750"/>
            </a:avLst>
          </a:prstGeom>
          <a:solidFill>
            <a:srgbClr val="EEE6FA"/>
          </a:solidFill>
          <a:ln w="1016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887968" y="1097280"/>
            <a:ext cx="2249424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4: Agent Coordination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530352" y="1627632"/>
            <a:ext cx="11661648" cy="5230368"/>
          </a:xfrm>
          <a:prstGeom prst="roundRect">
            <a:avLst>
              <a:gd name="adj" fmla="val 2905"/>
            </a:avLst>
          </a:prstGeom>
          <a:solidFill>
            <a:srgbClr val="FFFFFF"/>
          </a:solidFill>
          <a:ln w="15240">
            <a:solidFill>
              <a:srgbClr val="8B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892040" y="1700784"/>
            <a:ext cx="2194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Portfolio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41248" y="1901952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398751"/>
            </a:solidFill>
            <a:prstDash val="solid"/>
          </a:ln>
          <a:effectLst>
            <a:outerShdw blurRad="25400" dist="50800" dir="2700000" algn="bl" rotWithShape="0">
              <a:srgbClr val="8A8A8A">
                <a:alpha val="1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Shape 15"/>
          <p:cNvSpPr/>
          <p:nvPr/>
        </p:nvSpPr>
        <p:spPr>
          <a:xfrm>
            <a:off x="914400" y="1975104"/>
            <a:ext cx="3255264" cy="347472"/>
          </a:xfrm>
          <a:prstGeom prst="roundRect">
            <a:avLst>
              <a:gd name="adj" fmla="val 15789"/>
            </a:avLst>
          </a:prstGeom>
          <a:solidFill>
            <a:srgbClr val="E6F4EA"/>
          </a:solidFill>
          <a:ln w="10160">
            <a:solidFill>
              <a:srgbClr val="398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987552" y="2048256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398751"/>
          </a:solidFill>
          <a:ln w="6350">
            <a:solidFill>
              <a:srgbClr val="398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996696" y="2057400"/>
            <a:ext cx="32918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UC1</a:t>
            </a:r>
            <a:endParaRPr lang="en-US" sz="670" dirty="0"/>
          </a:p>
        </p:txBody>
      </p:sp>
      <p:sp>
        <p:nvSpPr>
          <p:cNvPr id="21" name="Text 18"/>
          <p:cNvSpPr/>
          <p:nvPr/>
        </p:nvSpPr>
        <p:spPr>
          <a:xfrm>
            <a:off x="1389888" y="2039112"/>
            <a:ext cx="2688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3987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 Repurposing —</a:t>
            </a:r>
            <a:endParaRPr lang="en-US" sz="890" dirty="0"/>
          </a:p>
        </p:txBody>
      </p:sp>
      <p:sp>
        <p:nvSpPr>
          <p:cNvPr id="22" name="Text 19"/>
          <p:cNvSpPr/>
          <p:nvPr/>
        </p:nvSpPr>
        <p:spPr>
          <a:xfrm>
            <a:off x="987552" y="2404872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3987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710" dirty="0"/>
          </a:p>
        </p:txBody>
      </p:sp>
      <p:sp>
        <p:nvSpPr>
          <p:cNvPr id="23" name="Text 20"/>
          <p:cNvSpPr/>
          <p:nvPr/>
        </p:nvSpPr>
        <p:spPr>
          <a:xfrm>
            <a:off x="1554480" y="2395728"/>
            <a:ext cx="26151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approved drugs with shared molecular targets.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987552" y="2807208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3987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</a:t>
            </a:r>
            <a:endParaRPr lang="en-US" sz="710" dirty="0"/>
          </a:p>
        </p:txBody>
      </p:sp>
      <p:sp>
        <p:nvSpPr>
          <p:cNvPr id="25" name="Text 22"/>
          <p:cNvSpPr/>
          <p:nvPr/>
        </p:nvSpPr>
        <p:spPr>
          <a:xfrm>
            <a:off x="1554480" y="2798064"/>
            <a:ext cx="26151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 → Protein ← Gene → Disease + trial evidence.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987552" y="3209544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endParaRPr lang="en-US" sz="710" dirty="0"/>
          </a:p>
        </p:txBody>
      </p:sp>
      <p:sp>
        <p:nvSpPr>
          <p:cNvPr id="28" name="Shape 25"/>
          <p:cNvSpPr/>
          <p:nvPr/>
        </p:nvSpPr>
        <p:spPr>
          <a:xfrm>
            <a:off x="4498848" y="1901952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398751"/>
            </a:solidFill>
            <a:prstDash val="solid"/>
          </a:ln>
          <a:effectLst>
            <a:outerShdw blurRad="25400" dist="50800" dir="2700000" algn="bl" rotWithShape="0">
              <a:srgbClr val="8A8A8A">
                <a:alpha val="1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4572000" y="1975104"/>
            <a:ext cx="3255264" cy="347472"/>
          </a:xfrm>
          <a:prstGeom prst="roundRect">
            <a:avLst>
              <a:gd name="adj" fmla="val 15789"/>
            </a:avLst>
          </a:prstGeom>
          <a:solidFill>
            <a:srgbClr val="EEE6FA"/>
          </a:solidFill>
          <a:ln w="1016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645152" y="2048256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6F42C1"/>
          </a:solidFill>
          <a:ln w="635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654296" y="2057400"/>
            <a:ext cx="32918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UC2</a:t>
            </a:r>
            <a:endParaRPr lang="en-US" sz="670" dirty="0"/>
          </a:p>
        </p:txBody>
      </p:sp>
      <p:sp>
        <p:nvSpPr>
          <p:cNvPr id="32" name="Text 29"/>
          <p:cNvSpPr/>
          <p:nvPr/>
        </p:nvSpPr>
        <p:spPr>
          <a:xfrm>
            <a:off x="5047488" y="2039112"/>
            <a:ext cx="2688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Signals</a:t>
            </a:r>
            <a:endParaRPr lang="en-US" sz="890" dirty="0"/>
          </a:p>
        </p:txBody>
      </p:sp>
      <p:sp>
        <p:nvSpPr>
          <p:cNvPr id="33" name="Text 30"/>
          <p:cNvSpPr/>
          <p:nvPr/>
        </p:nvSpPr>
        <p:spPr>
          <a:xfrm>
            <a:off x="4645152" y="2404872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710" dirty="0"/>
          </a:p>
        </p:txBody>
      </p:sp>
      <p:sp>
        <p:nvSpPr>
          <p:cNvPr id="34" name="Text 31"/>
          <p:cNvSpPr/>
          <p:nvPr/>
        </p:nvSpPr>
        <p:spPr>
          <a:xfrm>
            <a:off x="5212080" y="2395728"/>
            <a:ext cx="26151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AE profiles for same-target drugs.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4645152" y="2807208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</a:t>
            </a:r>
            <a:endParaRPr lang="en-US" sz="710" dirty="0"/>
          </a:p>
        </p:txBody>
      </p:sp>
      <p:sp>
        <p:nvSpPr>
          <p:cNvPr id="36" name="Text 33"/>
          <p:cNvSpPr/>
          <p:nvPr/>
        </p:nvSpPr>
        <p:spPr>
          <a:xfrm>
            <a:off x="5212080" y="2798064"/>
            <a:ext cx="26151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Pembrolizumab/Nivolumab → PD-1 → Trials → AEs.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8156448" y="1901952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398751"/>
            </a:solidFill>
            <a:prstDash val="solid"/>
          </a:ln>
          <a:effectLst>
            <a:outerShdw blurRad="25400" dist="50800" dir="2700000" algn="bl" rotWithShape="0">
              <a:srgbClr val="8A8A8A">
                <a:alpha val="1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0" name="Shape 37"/>
          <p:cNvSpPr/>
          <p:nvPr/>
        </p:nvSpPr>
        <p:spPr>
          <a:xfrm>
            <a:off x="8229600" y="1975104"/>
            <a:ext cx="3255264" cy="347472"/>
          </a:xfrm>
          <a:prstGeom prst="roundRect">
            <a:avLst>
              <a:gd name="adj" fmla="val 15789"/>
            </a:avLst>
          </a:prstGeom>
          <a:solidFill>
            <a:srgbClr val="FBECDD"/>
          </a:solidFill>
          <a:ln w="10160">
            <a:solidFill>
              <a:srgbClr val="BA63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8302752" y="2048256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BA6310"/>
          </a:solidFill>
          <a:ln w="6350">
            <a:solidFill>
              <a:srgbClr val="BA63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8311896" y="2057400"/>
            <a:ext cx="32918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UC3</a:t>
            </a:r>
            <a:endParaRPr lang="en-US" sz="670" dirty="0"/>
          </a:p>
        </p:txBody>
      </p:sp>
      <p:sp>
        <p:nvSpPr>
          <p:cNvPr id="43" name="Text 40"/>
          <p:cNvSpPr/>
          <p:nvPr/>
        </p:nvSpPr>
        <p:spPr>
          <a:xfrm>
            <a:off x="8705088" y="2039112"/>
            <a:ext cx="2688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BA63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Biomarker-Guided NSCLC Treatment</a:t>
            </a:r>
            <a:endParaRPr lang="en-US" sz="890" dirty="0"/>
          </a:p>
        </p:txBody>
      </p:sp>
      <p:sp>
        <p:nvSpPr>
          <p:cNvPr id="44" name="Text 41"/>
          <p:cNvSpPr/>
          <p:nvPr/>
        </p:nvSpPr>
        <p:spPr>
          <a:xfrm>
            <a:off x="8302752" y="2404872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BA63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710" dirty="0"/>
          </a:p>
        </p:txBody>
      </p:sp>
      <p:sp>
        <p:nvSpPr>
          <p:cNvPr id="45" name="Text 42"/>
          <p:cNvSpPr/>
          <p:nvPr/>
        </p:nvSpPr>
        <p:spPr>
          <a:xfrm>
            <a:off x="8869680" y="2395728"/>
            <a:ext cx="26151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therapy only after biomarker prerequisite.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8302752" y="2807208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BA63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</a:t>
            </a:r>
            <a:endParaRPr lang="en-US" sz="710" dirty="0"/>
          </a:p>
        </p:txBody>
      </p:sp>
      <p:sp>
        <p:nvSpPr>
          <p:cNvPr id="47" name="Text 44"/>
          <p:cNvSpPr/>
          <p:nvPr/>
        </p:nvSpPr>
        <p:spPr>
          <a:xfrm>
            <a:off x="8869680" y="2798064"/>
            <a:ext cx="26151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PD-L1 expression → predicts response → immunotherapy.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841248" y="379476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398751"/>
            </a:solidFill>
            <a:prstDash val="solid"/>
          </a:ln>
          <a:effectLst>
            <a:outerShdw blurRad="25400" dist="50800" dir="2700000" algn="bl" rotWithShape="0">
              <a:srgbClr val="8A8A8A">
                <a:alpha val="1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8"/>
          <p:cNvSpPr/>
          <p:nvPr/>
        </p:nvSpPr>
        <p:spPr>
          <a:xfrm>
            <a:off x="914400" y="3867912"/>
            <a:ext cx="3255264" cy="347472"/>
          </a:xfrm>
          <a:prstGeom prst="roundRect">
            <a:avLst>
              <a:gd name="adj" fmla="val 15789"/>
            </a:avLst>
          </a:prstGeom>
          <a:solidFill>
            <a:srgbClr val="E3F3F8"/>
          </a:solidFill>
          <a:ln w="10160">
            <a:solidFill>
              <a:srgbClr val="0E7E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9"/>
          <p:cNvSpPr/>
          <p:nvPr/>
        </p:nvSpPr>
        <p:spPr>
          <a:xfrm>
            <a:off x="987552" y="3941064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0E7EA6"/>
          </a:solidFill>
          <a:ln w="6350">
            <a:solidFill>
              <a:srgbClr val="0E7E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996696" y="3950208"/>
            <a:ext cx="32918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UC4</a:t>
            </a:r>
            <a:endParaRPr lang="en-US" sz="670" dirty="0"/>
          </a:p>
        </p:txBody>
      </p:sp>
      <p:sp>
        <p:nvSpPr>
          <p:cNvPr id="54" name="Text 51"/>
          <p:cNvSpPr/>
          <p:nvPr/>
        </p:nvSpPr>
        <p:spPr>
          <a:xfrm>
            <a:off x="1389888" y="3931920"/>
            <a:ext cx="2688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0E7E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GLP-1 Competitive Landscape</a:t>
            </a:r>
            <a:endParaRPr lang="en-US" sz="890" dirty="0"/>
          </a:p>
        </p:txBody>
      </p:sp>
      <p:sp>
        <p:nvSpPr>
          <p:cNvPr id="55" name="Text 52"/>
          <p:cNvSpPr/>
          <p:nvPr/>
        </p:nvSpPr>
        <p:spPr>
          <a:xfrm>
            <a:off x="987552" y="4297680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0E7E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710" dirty="0"/>
          </a:p>
        </p:txBody>
      </p:sp>
      <p:sp>
        <p:nvSpPr>
          <p:cNvPr id="56" name="Text 53"/>
          <p:cNvSpPr/>
          <p:nvPr/>
        </p:nvSpPr>
        <p:spPr>
          <a:xfrm>
            <a:off x="1554480" y="4288536"/>
            <a:ext cx="26151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GLP-1 drugs across disease, efficacy, safety.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987552" y="4700016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0E7E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</a:t>
            </a:r>
            <a:endParaRPr lang="en-US" sz="710" dirty="0"/>
          </a:p>
        </p:txBody>
      </p:sp>
      <p:sp>
        <p:nvSpPr>
          <p:cNvPr id="58" name="Text 55"/>
          <p:cNvSpPr/>
          <p:nvPr/>
        </p:nvSpPr>
        <p:spPr>
          <a:xfrm>
            <a:off x="1554480" y="4690872"/>
            <a:ext cx="26151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 → targets → diseases → trials → AEs.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4498848" y="379476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398751"/>
            </a:solidFill>
            <a:prstDash val="solid"/>
          </a:ln>
          <a:effectLst>
            <a:outerShdw blurRad="25400" dist="50800" dir="2700000" algn="bl" rotWithShape="0">
              <a:srgbClr val="8A8A8A">
                <a:alpha val="1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4572000" y="3867912"/>
            <a:ext cx="3255264" cy="347472"/>
          </a:xfrm>
          <a:prstGeom prst="roundRect">
            <a:avLst>
              <a:gd name="adj" fmla="val 15789"/>
            </a:avLst>
          </a:prstGeom>
          <a:solidFill>
            <a:srgbClr val="E4EDFC"/>
          </a:solidFill>
          <a:ln w="10160">
            <a:solidFill>
              <a:srgbClr val="436D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0"/>
          <p:cNvSpPr/>
          <p:nvPr/>
        </p:nvSpPr>
        <p:spPr>
          <a:xfrm>
            <a:off x="4645152" y="3941064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436DBF"/>
          </a:solidFill>
          <a:ln w="6350">
            <a:solidFill>
              <a:srgbClr val="436D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4654296" y="3950208"/>
            <a:ext cx="32918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UC5</a:t>
            </a:r>
            <a:endParaRPr lang="en-US" sz="670" dirty="0"/>
          </a:p>
        </p:txBody>
      </p:sp>
      <p:sp>
        <p:nvSpPr>
          <p:cNvPr id="65" name="Text 62"/>
          <p:cNvSpPr/>
          <p:nvPr/>
        </p:nvSpPr>
        <p:spPr>
          <a:xfrm>
            <a:off x="5047488" y="3931920"/>
            <a:ext cx="2688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436D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Collaboration Network</a:t>
            </a:r>
            <a:endParaRPr lang="en-US" sz="890" dirty="0"/>
          </a:p>
        </p:txBody>
      </p:sp>
      <p:sp>
        <p:nvSpPr>
          <p:cNvPr id="66" name="Text 63"/>
          <p:cNvSpPr/>
          <p:nvPr/>
        </p:nvSpPr>
        <p:spPr>
          <a:xfrm>
            <a:off x="4645152" y="4297680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436D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710" dirty="0"/>
          </a:p>
        </p:txBody>
      </p:sp>
      <p:sp>
        <p:nvSpPr>
          <p:cNvPr id="67" name="Text 64"/>
          <p:cNvSpPr/>
          <p:nvPr/>
        </p:nvSpPr>
        <p:spPr>
          <a:xfrm>
            <a:off x="5212080" y="4288536"/>
            <a:ext cx="26151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institutions and academia–pharma bridges.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645152" y="4700016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436D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</a:t>
            </a:r>
            <a:endParaRPr lang="en-US" sz="710" dirty="0"/>
          </a:p>
        </p:txBody>
      </p:sp>
      <p:sp>
        <p:nvSpPr>
          <p:cNvPr id="69" name="Text 66"/>
          <p:cNvSpPr/>
          <p:nvPr/>
        </p:nvSpPr>
        <p:spPr>
          <a:xfrm>
            <a:off x="5212080" y="4690872"/>
            <a:ext cx="26151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 → Paper → Institution → Trial → Sponsor.</a:t>
            </a:r>
            <a:endParaRPr lang="en-US" sz="720" dirty="0"/>
          </a:p>
        </p:txBody>
      </p:sp>
      <p:sp>
        <p:nvSpPr>
          <p:cNvPr id="72" name="Shape 69"/>
          <p:cNvSpPr/>
          <p:nvPr/>
        </p:nvSpPr>
        <p:spPr>
          <a:xfrm>
            <a:off x="8156448" y="379476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240">
            <a:solidFill>
              <a:srgbClr val="398751"/>
            </a:solidFill>
            <a:prstDash val="solid"/>
          </a:ln>
          <a:effectLst>
            <a:outerShdw blurRad="25400" dist="50800" dir="2700000" algn="bl" rotWithShape="0">
              <a:srgbClr val="8A8A8A">
                <a:alpha val="1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Shape 70"/>
          <p:cNvSpPr/>
          <p:nvPr/>
        </p:nvSpPr>
        <p:spPr>
          <a:xfrm>
            <a:off x="8229600" y="3867912"/>
            <a:ext cx="3255264" cy="347472"/>
          </a:xfrm>
          <a:prstGeom prst="roundRect">
            <a:avLst>
              <a:gd name="adj" fmla="val 15789"/>
            </a:avLst>
          </a:prstGeom>
          <a:solidFill>
            <a:srgbClr val="F8E5F1"/>
          </a:solidFill>
          <a:ln w="10160">
            <a:solidFill>
              <a:srgbClr val="B33C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1"/>
          <p:cNvSpPr/>
          <p:nvPr/>
        </p:nvSpPr>
        <p:spPr>
          <a:xfrm>
            <a:off x="8302752" y="3941064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B33C80"/>
          </a:solidFill>
          <a:ln w="6350">
            <a:solidFill>
              <a:srgbClr val="B33C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2"/>
          <p:cNvSpPr/>
          <p:nvPr/>
        </p:nvSpPr>
        <p:spPr>
          <a:xfrm>
            <a:off x="8311896" y="3950208"/>
            <a:ext cx="32918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UC6</a:t>
            </a:r>
            <a:endParaRPr lang="en-US" sz="670" dirty="0"/>
          </a:p>
        </p:txBody>
      </p:sp>
      <p:sp>
        <p:nvSpPr>
          <p:cNvPr id="76" name="Text 73"/>
          <p:cNvSpPr/>
          <p:nvPr/>
        </p:nvSpPr>
        <p:spPr>
          <a:xfrm>
            <a:off x="8705088" y="3931920"/>
            <a:ext cx="26883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90" b="1" dirty="0">
                <a:solidFill>
                  <a:srgbClr val="B33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Multi-Hop</a:t>
            </a:r>
            <a:endParaRPr lang="en-US" sz="890" dirty="0"/>
          </a:p>
        </p:txBody>
      </p:sp>
      <p:sp>
        <p:nvSpPr>
          <p:cNvPr id="77" name="Text 74"/>
          <p:cNvSpPr/>
          <p:nvPr/>
        </p:nvSpPr>
        <p:spPr>
          <a:xfrm>
            <a:off x="8302752" y="4297680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B33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710" dirty="0"/>
          </a:p>
        </p:txBody>
      </p:sp>
      <p:sp>
        <p:nvSpPr>
          <p:cNvPr id="78" name="Text 75"/>
          <p:cNvSpPr/>
          <p:nvPr/>
        </p:nvSpPr>
        <p:spPr>
          <a:xfrm>
            <a:off x="8869680" y="4288536"/>
            <a:ext cx="26151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indirect molecular path to treatment.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8302752" y="4700016"/>
            <a:ext cx="56692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B33C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</a:t>
            </a:r>
            <a:endParaRPr lang="en-US" sz="710" dirty="0"/>
          </a:p>
        </p:txBody>
      </p:sp>
      <p:sp>
        <p:nvSpPr>
          <p:cNvPr id="80" name="Text 77"/>
          <p:cNvSpPr/>
          <p:nvPr/>
        </p:nvSpPr>
        <p:spPr>
          <a:xfrm>
            <a:off x="8869680" y="4690872"/>
            <a:ext cx="26151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BRCA1 → Breast Cancer ← HER2 → Protein ← Drug.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362</Words>
  <Application>Microsoft Office PowerPoint</Application>
  <PresentationFormat>Widescreen</PresentationFormat>
  <Paragraphs>91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G, Ramaiah</dc:creator>
  <cp:keywords/>
  <dc:description>generated using python-pptx</dc:description>
  <cp:lastModifiedBy>G, Ramaiah</cp:lastModifiedBy>
  <cp:revision>13</cp:revision>
  <dcterms:created xsi:type="dcterms:W3CDTF">2013-01-27T09:14:16Z</dcterms:created>
  <dcterms:modified xsi:type="dcterms:W3CDTF">2026-04-28T06:29:54Z</dcterms:modified>
  <cp:category/>
</cp:coreProperties>
</file>